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72" r:id="rId7"/>
    <p:sldId id="260" r:id="rId8"/>
    <p:sldId id="261" r:id="rId9"/>
    <p:sldId id="273" r:id="rId10"/>
    <p:sldId id="262" r:id="rId11"/>
    <p:sldId id="274" r:id="rId12"/>
    <p:sldId id="263" r:id="rId13"/>
    <p:sldId id="264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8:54.3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700 177 24575,'887'48'0,"-859"-46"0,99 14 0,-114-13 0,0 0 0,0 1 0,-1 0 0,1 1 0,-1 1 0,0 0 0,16 11 0,-8-6 0,0-1 0,1 0 0,0-2 0,1 0 0,-1-2 0,1 0 0,25 2 0,22 8 0,-12-1 0,0-3 0,1-3 0,0-2 0,98-1 0,-111-6 0,-10-1 0,-71 1 0,-11-3 0,-1-2 0,1-3 0,0-1 0,-59-20 0,52 14 0,20 9 0,0 1 0,0 2 0,0 1 0,-55 3 0,24 1 0,-268-4 0,-458 16 0,619 8 0,14-1 0,147-20 0,6 0 0,0 0 0,0 0 0,0-1 0,0 0 0,0 0 0,0 0 0,-1-1 0,1 1 0,0-1 0,0-1 0,-7-2 0,12 4 0,0 0 0,0 0 0,0 0 0,0-1 0,-1 1 0,1 0 0,0 0 0,0 0 0,0-1 0,0 1 0,0 0 0,0 0 0,0 0 0,0-1 0,0 1 0,0 0 0,0 0 0,0-1 0,0 1 0,0 0 0,0 0 0,1 0 0,-1-1 0,0 1 0,0 0 0,0 0 0,0 0 0,0 0 0,0-1 0,1 1 0,-1 0 0,0 0 0,0 0 0,0 0 0,0-1 0,1 1 0,-1 0 0,0 0 0,0 0 0,0 0 0,0 0 0,1 0 0,-1 0 0,0 0 0,0 0 0,1 0 0,-1 0 0,0 0 0,0 0 0,0 0 0,1 0 0,14-5 0,45-3 0,0 3 0,1 2 0,61 5 0,-35 0 0,-49-1 0,54-2 0,-78-2 0,-14-2 0,-24-3 0,-169-26 0,-70-16 0,215 33 0,38 13 0,1 0 0,-1 1 0,0 0 0,0 1 0,0 0 0,-10-1 0,395 3 0,-193 2 0,-644-2 0,455 0 0,-1-1 0,1 0 0,0 0 0,0 0 0,0-1 0,0 0 0,0-1 0,1 1 0,-1-1 0,1-1 0,-1 1 0,1-1 0,0 0 0,0 0 0,-9-10 0,2 4 0,6 6 0,0 0 0,-1 0 0,1 1 0,-1 0 0,0 0 0,0 1 0,0 0 0,0 0 0,0 1 0,0 0 0,-10 0 0,8 1 0,-1 0 0,0 0 0,1 1 0,-1 1 0,1-1 0,-1 2 0,1-1 0,-13 6 0,16-4 0,-1-1 0,1 1 0,-1 0 0,1 1 0,0-1 0,1 1 0,-1 1 0,1-1 0,-11 14 0,17-19 0,0 1 0,-1 0 0,1 0 0,0 0 0,0 0 0,-1-1 0,1 1 0,0 0 0,0 0 0,0 0 0,0 0 0,0 0 0,0 0 0,0 0 0,1-1 0,-1 1 0,0 0 0,0 0 0,1 0 0,-1 0 0,0-1 0,1 1 0,-1 0 0,1 0 0,-1-1 0,1 1 0,0 0 0,-1 0 0,1-1 0,-1 1 0,1-1 0,0 1 0,0-1 0,-1 1 0,1-1 0,0 1 0,0-1 0,0 0 0,-1 1 0,1-1 0,0 0 0,0 0 0,1 0 0,43 10 0,-42-10 0,81 6 0,115-8 0,-66-1 0,477-8 0,-2-36 0,-117-1 0,472-71 0,-878 108 0,119-1 0,-197 13-273,-1-1 0,1-1 0,-1 1 0,13-4 0,-4-1-6553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9:01.0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9:05.2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 24518,'4375'0'0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30:04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514 515 24571,'-514'-257'0,"1028"0"0,-1028 514 0,7612-257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30:14.5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1611 465 24575,'170'3'0,"224"33"0,-327-26 0,34 3 0,-1 5 0,100 31 0,-190-46 0,1-1 0,-1 0 0,0-1 0,0 0 0,1-1 0,-1 0 0,19-2 0,-29 2 0,0 0 0,0-1 0,0 1 0,0 0 0,0 0 0,0 0 0,0 0 0,0 0 0,0 0 0,0 0 0,0-1 0,0 1 0,0 0 0,0 0 0,0 0 0,0 0 0,0 0 0,0 0 0,0-1 0,0 1 0,0 0 0,0 0 0,0 0 0,0 0 0,0 0 0,0 0 0,0 0 0,0-1 0,0 1 0,0 0 0,0 0 0,0 0 0,1 0 0,-1 0 0,0 0 0,0 0 0,0 0 0,0 0 0,0-1 0,0 1 0,0 0 0,1 0 0,-1 0 0,0 0 0,0 0 0,0 0 0,0 0 0,-19-5 0,-285-31 0,195 26 0,-654-34 0,4 41 0,733 4 0,-38 7 0,-1 0 0,64-7 0,0-1 0,0 0 0,0 0 0,0 0 0,0 1 0,-1-1 0,1 0 0,0-1 0,0 1 0,0 0 0,-1 0 0,1 0 0,0-1 0,0 1 0,0 0 0,0-1 0,0 1 0,-2-2 0,3 1 0,1 1 0,-1-1 0,0 1 0,0-1 0,0 0 0,1 1 0,-1-1 0,0 1 0,0-1 0,1 1 0,-1-1 0,1 1 0,-1-1 0,0 1 0,1-1 0,-1 1 0,1-1 0,-1 1 0,1 0 0,-1-1 0,1 1 0,1-1 0,43-23 0,68-19 0,-112 43 0,0 0 0,0-1 0,0 1 0,1 0 0,-1-1 0,0 1 0,0-1 0,0 1 0,0-1 0,0 1 0,0-1 0,0 0 0,0 1 0,-1-1 0,1 0 0,0 0 0,0 0 0,1-2 0,-2 3 0,0-1 0,0 1 0,0-1 0,0 0 0,-1 1 0,1-1 0,0 1 0,0-1 0,0 0 0,-1 1 0,1-1 0,0 1 0,-1-1 0,1 1 0,0-1 0,-1 1 0,1-1 0,-1 1 0,1-1 0,-1 1 0,1 0 0,-1-1 0,1 1 0,-2-1 0,-8-5 0,0 1 0,0 0 0,-12-3 0,3 0 0,-5-5 0,1-1 0,0-1 0,1-1 0,1-1 0,0-1 0,2 0 0,0-2 0,1-1 0,-23-32 0,36 43 0,0 0 0,0 0 0,1-1 0,1 1 0,0-1 0,0 0 0,1 1 0,-1-18 0,2 25 0,1-1 0,-1 1 0,0 0 0,0 0 0,0-1 0,0 1 0,0 0 0,-1 0 0,1 1 0,-1-1 0,0 0 0,0 0 0,0 1 0,0-1 0,0 1 0,-5-4 0,5 5 0,1 0 0,0 1 0,-1-1 0,1 1 0,-1-1 0,1 1 0,-1-1 0,1 1 0,-1 0 0,1 0 0,-1 0 0,1 0 0,-1 0 0,1 0 0,-1 0 0,1 1 0,-1-1 0,1 0 0,-1 1 0,1-1 0,0 1 0,-1 0 0,1-1 0,0 1 0,-1 0 0,1 0 0,0 0 0,0 0 0,0 0 0,0 0 0,0 0 0,0 0 0,0 1 0,0-1 0,0 0 0,0 0 0,0 3 0,-26 36 0,2 1 0,2 2 0,2 0 0,1 1 0,-15 53 0,16-6 0,13-58 0,-14 47 0,16-68 0,1 1 0,1-1 0,0 1 0,1 0 0,0 17 0,2-431 0,-1 398 0,0 1 0,0-1 0,0 1 0,-1 0 0,1-1 0,-1 1 0,0-1 0,1 1 0,-1 0 0,0-1 0,0 1 0,-1 0 0,1 0 0,0 0 0,-1 0 0,0 0 0,1 0 0,-1 0 0,-2-1 0,3 2 0,-1 0 0,1 1 0,0-1 0,-1 0 0,1 1 0,-1-1 0,1 1 0,-1 0 0,0-1 0,1 1 0,-1 0 0,1 0 0,-1 0 0,1 0 0,-1 0 0,0 0 0,1 1 0,-1-1 0,1 0 0,-1 1 0,1-1 0,-1 1 0,1 0 0,0-1 0,-1 1 0,1 0 0,0 0 0,-1 0 0,1 0 0,0 0 0,-2 2 0,-3 4 0,-1 0 0,2 0 0,-1 0 0,1 1 0,0 0 0,1 0 0,-1 1 0,-4 13 0,-19 77 0,19-63 0,4-12-236,2 1-1,0-1 1,1 1-1,3 35 1,-1-56 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30:22.0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899 1 24575,'1'3'0,"0"0"0,0-1 0,1 1 0,-1 0 0,1-1 0,0 1 0,0-1 0,0 0 0,0 1 0,0-1 0,3 2 0,5 6 0,2 4 0,-5-6 0,0 0 0,-1 0 0,1 1 0,4 10 0,-10-18 0,0 1 0,0 0 0,-1-1 0,1 1 0,0 0 0,-1-1 0,1 1 0,-1 0 0,0 0 0,0-1 0,1 1 0,-1 0 0,0 0 0,0 0 0,-1 0 0,1-1 0,0 1 0,-1 0 0,1 0 0,-1-1 0,1 1 0,-1 0 0,0-1 0,0 1 0,0 0 0,0-1 0,0 1 0,0-1 0,-3 3 0,2-1 0,-1 0 0,1 0 0,0 1 0,0-1 0,0 0 0,0 1 0,-2 5 0,-10 18 0,13-26 0,0 0 0,0 0 0,0 0 0,0-1 0,-1 1 0,1 0 0,0 0 0,0-1 0,0 1 0,-1-1 0,1 1 0,0-1 0,0 1 0,-1-1 0,1 0 0,-1 0 0,1 0 0,0 1 0,-1-1 0,-1-1 0,-33-3 0,1-1 0,-47-15 0,49 12 0,20 5 0,1 0 0,-1-1 0,1 0 0,0-1 0,0 0 0,-17-11 0,21 10 0,-1 0 0,0 0 0,0 1 0,-1 0 0,0 0 0,0 1 0,0 0 0,0 1 0,-1 1 0,1-1 0,-1 1 0,0 1 0,-11 0 0,-33 0 0,-1 3 0,1 3 0,-84 16 0,123-17 0,4 0 0,34-1 0,80 12 0,-70-9 0,0-1 0,46 1 0,194-6 0,-820 0 0,532 0 113,-1 2 0,-19 4 0,-27 3-1817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31:17.0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linked%20in?subject=linked%20in" TargetMode="External"/><Relationship Id="rId2" Type="http://schemas.openxmlformats.org/officeDocument/2006/relationships/hyperlink" Target="mailto:malavegeetanjali09@gmail.com%20%20%20%20%20%20%20%20https://www.linkedin.com/in/malave-geetanjali-a57207343%20https://www.linkedin.com/in/malave-geetanjali-a57207343%20https://www.linkedin.com/in/malave-geetanjali-a5720734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malavegeetanjali09@gmail.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61" y="0"/>
            <a:ext cx="8229600" cy="1143000"/>
          </a:xfrm>
        </p:spPr>
        <p:txBody>
          <a:bodyPr/>
          <a:lstStyle/>
          <a:p>
            <a:r>
              <a:rPr b="1" dirty="0"/>
              <a:t>Arogya Mithra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102" y="924232"/>
            <a:ext cx="6931743" cy="924233"/>
          </a:xfrm>
        </p:spPr>
        <p:txBody>
          <a:bodyPr/>
          <a:lstStyle/>
          <a:p>
            <a:pPr>
              <a:defRPr sz="2000"/>
            </a:pPr>
            <a:r>
              <a:rPr dirty="0"/>
              <a:t>AI-Assisted Platform for Equitable Healthcare</a:t>
            </a:r>
          </a:p>
          <a:p>
            <a:pPr>
              <a:defRPr sz="2000"/>
            </a:pPr>
            <a:r>
              <a:rPr dirty="0"/>
              <a:t>Domain: AI for Equitable Healthcare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6E273-5078-F93F-51F1-AA53A110F0BE}"/>
              </a:ext>
            </a:extLst>
          </p:cNvPr>
          <p:cNvSpPr txBox="1"/>
          <p:nvPr/>
        </p:nvSpPr>
        <p:spPr>
          <a:xfrm>
            <a:off x="845575" y="1777528"/>
            <a:ext cx="3726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29E6D-B8E7-2D55-CA9B-2439FA8D7F28}"/>
              </a:ext>
            </a:extLst>
          </p:cNvPr>
          <p:cNvSpPr txBox="1"/>
          <p:nvPr/>
        </p:nvSpPr>
        <p:spPr>
          <a:xfrm>
            <a:off x="580103" y="2399089"/>
            <a:ext cx="55748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Urban–rural healthcare inequality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Delayed diagnosis in rural regions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 Inefficient telemedicine workflows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Limited support for frontline workers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D166B-A704-CBD7-A207-F173DA80CCA4}"/>
              </a:ext>
            </a:extLst>
          </p:cNvPr>
          <p:cNvSpPr txBox="1"/>
          <p:nvPr/>
        </p:nvSpPr>
        <p:spPr>
          <a:xfrm>
            <a:off x="938980" y="3820869"/>
            <a:ext cx="6754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Why This Matters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6E5B2-19D2-F6BE-5DB2-BF1FA3805B5A}"/>
              </a:ext>
            </a:extLst>
          </p:cNvPr>
          <p:cNvSpPr txBox="1"/>
          <p:nvPr/>
        </p:nvSpPr>
        <p:spPr>
          <a:xfrm>
            <a:off x="580103" y="4353922"/>
            <a:ext cx="548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Delayed care increases health risks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 Doctors handle non-critical cases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 Frontline workers lack decision tools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Public health response is reactive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538744-3CC5-5957-8BA3-A80B00EF9BEF}"/>
              </a:ext>
            </a:extLst>
          </p:cNvPr>
          <p:cNvSpPr txBox="1"/>
          <p:nvPr/>
        </p:nvSpPr>
        <p:spPr>
          <a:xfrm>
            <a:off x="722670" y="182086"/>
            <a:ext cx="306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Core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98441-753F-4D4D-AC6A-4EBDA7EF417C}"/>
              </a:ext>
            </a:extLst>
          </p:cNvPr>
          <p:cNvSpPr txBox="1"/>
          <p:nvPr/>
        </p:nvSpPr>
        <p:spPr>
          <a:xfrm>
            <a:off x="403122" y="705306"/>
            <a:ext cx="46147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Symptom triage (Low / Medium / High)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Patient health profiles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Doctor dashboard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Public health monitoring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AC8B36-2353-D889-85AB-D219C32E6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2222090"/>
            <a:ext cx="6882581" cy="4453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E8215C-F047-A619-0058-C998C570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9" y="147483"/>
            <a:ext cx="7993625" cy="4289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95E47D-C184-4FF1-6E9B-F478DF3871EA}"/>
              </a:ext>
            </a:extLst>
          </p:cNvPr>
          <p:cNvSpPr txBox="1"/>
          <p:nvPr/>
        </p:nvSpPr>
        <p:spPr>
          <a:xfrm>
            <a:off x="378445" y="4446328"/>
            <a:ext cx="3510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Target Users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93C0D-B8B8-192D-55D5-3AC1DFFBF538}"/>
              </a:ext>
            </a:extLst>
          </p:cNvPr>
          <p:cNvSpPr txBox="1"/>
          <p:nvPr/>
        </p:nvSpPr>
        <p:spPr>
          <a:xfrm>
            <a:off x="167149" y="4979381"/>
            <a:ext cx="55453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Patients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Frontline Health Workers (ASHA / ANM)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Doctors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Public Health Officials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9CA7EC-C446-4E46-783F-8BDBE4D7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361" y="3117623"/>
            <a:ext cx="6264378" cy="3740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3E3B129-E43C-9113-0B2E-40B80F395B12}"/>
                  </a:ext>
                </a:extLst>
              </p14:cNvPr>
              <p14:cNvContentPartPr/>
              <p14:nvPr/>
            </p14:nvContentPartPr>
            <p14:xfrm>
              <a:off x="6139250" y="3082908"/>
              <a:ext cx="1261800" cy="152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3E3B129-E43C-9113-0B2E-40B80F395B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3130" y="3076788"/>
                <a:ext cx="12740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3343601-54A2-C3D3-7985-D4D8949EE287}"/>
                  </a:ext>
                </a:extLst>
              </p14:cNvPr>
              <p14:cNvContentPartPr/>
              <p14:nvPr/>
            </p14:nvContentPartPr>
            <p14:xfrm>
              <a:off x="7088570" y="314626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3343601-54A2-C3D3-7985-D4D8949EE2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930" y="30836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556BBC-C55F-3500-1302-C410A7A8FCCC}"/>
                  </a:ext>
                </a:extLst>
              </p14:cNvPr>
              <p14:cNvContentPartPr/>
              <p14:nvPr/>
            </p14:nvContentPartPr>
            <p14:xfrm>
              <a:off x="7088570" y="3146268"/>
              <a:ext cx="157536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556BBC-C55F-3500-1302-C410A7A8FC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25570" y="3020268"/>
                <a:ext cx="17010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9535A1D-0F7A-D290-11CE-C43BD31A1B86}"/>
                  </a:ext>
                </a:extLst>
              </p14:cNvPr>
              <p14:cNvContentPartPr/>
              <p14:nvPr/>
            </p14:nvContentPartPr>
            <p14:xfrm>
              <a:off x="6083688" y="3193104"/>
              <a:ext cx="2555640" cy="185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9535A1D-0F7A-D290-11CE-C43BD31A1B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20688" y="3130464"/>
                <a:ext cx="26812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3C28E4-97E3-A452-4DC8-37CE14F4E6C2}"/>
                  </a:ext>
                </a:extLst>
              </p14:cNvPr>
              <p14:cNvContentPartPr/>
              <p14:nvPr/>
            </p14:nvContentPartPr>
            <p14:xfrm>
              <a:off x="6125808" y="2978184"/>
              <a:ext cx="988920" cy="226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3C28E4-97E3-A452-4DC8-37CE14F4E6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62808" y="2915544"/>
                <a:ext cx="11145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A92FED1-FC18-72D9-95B7-97D6C243612E}"/>
                  </a:ext>
                </a:extLst>
              </p14:cNvPr>
              <p14:cNvContentPartPr/>
              <p14:nvPr/>
            </p14:nvContentPartPr>
            <p14:xfrm>
              <a:off x="8674248" y="3126864"/>
              <a:ext cx="356040" cy="83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A92FED1-FC18-72D9-95B7-97D6C243612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11248" y="3064224"/>
                <a:ext cx="481680" cy="20916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320163F-F1B4-A35B-8643-780DCB9E3760}"/>
              </a:ext>
            </a:extLst>
          </p:cNvPr>
          <p:cNvSpPr txBox="1"/>
          <p:nvPr/>
        </p:nvSpPr>
        <p:spPr>
          <a:xfrm>
            <a:off x="359861" y="3531354"/>
            <a:ext cx="207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Workflow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5F96F9-A2FA-7950-EB68-1EBAE9C041C5}"/>
              </a:ext>
            </a:extLst>
          </p:cNvPr>
          <p:cNvSpPr txBox="1"/>
          <p:nvPr/>
        </p:nvSpPr>
        <p:spPr>
          <a:xfrm>
            <a:off x="213360" y="4276005"/>
            <a:ext cx="2448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Login → Symptom Entry → AI Risk Assessment</a:t>
            </a:r>
          </a:p>
          <a:p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676553E-6317-EC75-29C7-166D001A82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" y="0"/>
            <a:ext cx="6966606" cy="3308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97E02-F02C-07CB-94D2-709CA9BC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" y="188820"/>
            <a:ext cx="8529320" cy="46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8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505949-8BDA-F449-CF7B-83CCBBDC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2880"/>
            <a:ext cx="8971279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2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AI-assisted symptom triage</a:t>
            </a:r>
          </a:p>
          <a:p>
            <a:pPr>
              <a:defRPr sz="2000"/>
            </a:pPr>
            <a:r>
              <a:t>• Risk-based care guidance</a:t>
            </a:r>
          </a:p>
          <a:p>
            <a:pPr>
              <a:defRPr sz="2000"/>
            </a:pPr>
            <a:r>
              <a:t>• Telemedicine prioritization</a:t>
            </a:r>
          </a:p>
          <a:p>
            <a:pPr>
              <a:defRPr sz="2000"/>
            </a:pPr>
            <a:r>
              <a:t>• Public health intelligence</a:t>
            </a:r>
          </a:p>
          <a:p>
            <a:pPr>
              <a:defRPr sz="2000"/>
            </a:pPr>
            <a:r>
              <a:t>• AI assists, doctors decide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681500-D3BE-F875-E515-C3D4D8EC800C}"/>
                  </a:ext>
                </a:extLst>
              </p14:cNvPr>
              <p14:cNvContentPartPr/>
              <p14:nvPr/>
            </p14:nvContentPartPr>
            <p14:xfrm>
              <a:off x="1950600" y="20728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681500-D3BE-F875-E515-C3D4D8EC80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7600" y="200988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26B9A1C-8B14-2C27-29B4-3EA940345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" y="274638"/>
            <a:ext cx="8869680" cy="5410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646B06-5776-7B68-17CC-EB00B461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203200"/>
            <a:ext cx="8737600" cy="462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1331AA-6D62-9B9E-39FF-2618F284E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0" y="284481"/>
            <a:ext cx="87847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7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DB4835-77A5-D711-6D7D-B2901F743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" y="213360"/>
            <a:ext cx="8768080" cy="5140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211DEA-963C-1A94-03E9-5F6CCCDA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" y="487680"/>
            <a:ext cx="8585201" cy="51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9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1793DC-1036-7E60-76D3-29989EE5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01600"/>
            <a:ext cx="8463871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720" y="436880"/>
            <a:ext cx="4389120" cy="294957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Usage &amp; Benefits</a:t>
            </a:r>
            <a:br>
              <a:rPr lang="en-IN" b="1" dirty="0"/>
            </a:b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4840"/>
            <a:ext cx="8229600" cy="3022599"/>
          </a:xfrm>
        </p:spPr>
        <p:txBody>
          <a:bodyPr>
            <a:normAutofit fontScale="32500" lnSpcReduction="20000"/>
          </a:bodyPr>
          <a:lstStyle/>
          <a:p>
            <a:r>
              <a:rPr lang="en-US" sz="6200" dirty="0"/>
              <a:t>How It Is Used Patients or ASHA workers enter symptoms AI classifies risk (Low / Medium / High) Care is guided to home monitoring, teleconsultation, or referral Doctors receive AI-prioritized consultation queues Health officials monitor disease trends and risks</a:t>
            </a:r>
          </a:p>
          <a:p>
            <a:pPr marL="0" indent="0">
              <a:buNone/>
            </a:pPr>
            <a:endParaRPr lang="en-US" sz="6200" dirty="0"/>
          </a:p>
          <a:p>
            <a:pPr marL="0" indent="0">
              <a:buNone/>
            </a:pPr>
            <a:r>
              <a:rPr lang="en-US" sz="8000" dirty="0"/>
              <a:t>   Key Benefits</a:t>
            </a:r>
          </a:p>
          <a:p>
            <a:r>
              <a:rPr lang="en-US" sz="6200" dirty="0"/>
              <a:t>Reduced delayed diagnosis in rural areas Optimized telemedicine workflows Empowered frontline health workers Data-driven public health decision-making</a:t>
            </a:r>
          </a:p>
          <a:p>
            <a:pPr>
              <a:defRPr sz="2000"/>
            </a:pP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26114-04D8-FD0B-2DBF-D0A258A15DC4}"/>
              </a:ext>
            </a:extLst>
          </p:cNvPr>
          <p:cNvSpPr txBox="1"/>
          <p:nvPr/>
        </p:nvSpPr>
        <p:spPr>
          <a:xfrm>
            <a:off x="640080" y="3262718"/>
            <a:ext cx="6370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Tools &amp; Technologies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5A835-7FE2-0EDE-58DE-173E51CA8211}"/>
              </a:ext>
            </a:extLst>
          </p:cNvPr>
          <p:cNvSpPr txBox="1"/>
          <p:nvPr/>
        </p:nvSpPr>
        <p:spPr>
          <a:xfrm>
            <a:off x="365760" y="3830320"/>
            <a:ext cx="5659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Frontend: Antigravity Web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Backend: Firebase Authentication, </a:t>
            </a:r>
            <a:r>
              <a:rPr lang="en-IN" dirty="0" err="1"/>
              <a:t>Firestore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AI/ML: Logistic Regression, Decision Tree,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Design Focus: Explainability, scalability, ethical AI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"/>
            <a:ext cx="3667760" cy="711200"/>
          </a:xfrm>
        </p:spPr>
        <p:txBody>
          <a:bodyPr>
            <a:normAutofit/>
          </a:bodyPr>
          <a:lstStyle/>
          <a:p>
            <a:r>
              <a:rPr sz="3200" dirty="0"/>
              <a:t>Final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80" y="833120"/>
            <a:ext cx="8229600" cy="4525963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Arogya Mithra presents a practical implementation of an AI-powered multilingual symptom triage and referral system designed to support rural frontline health workers in identifying high-risk patients and prioritizing teleconsultations.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project demonstrates how simple, explainable, and ethically designed AI can be integrated into real-world healthcare workflows to improve accessibility, reduce delays in care, and optimize the use of limited medical expertise. By assisting patients, health workers, doctors, and public health officials through role-based decision support, the system strengthens healthcare delivery without replacing clinical judgment.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This work highlights the potential of responsible, data-driven AI to advance equitable healthcare outcomes in underserved communities.</a:t>
            </a:r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hlinkClick r:id="rId2"/>
            <a:extLst>
              <a:ext uri="{FF2B5EF4-FFF2-40B4-BE49-F238E27FC236}">
                <a16:creationId xmlns:a16="http://schemas.microsoft.com/office/drawing/2014/main" id="{2E1CD6AB-6F9C-24BC-EE9E-4F2FDBD1EA98}"/>
              </a:ext>
            </a:extLst>
          </p:cNvPr>
          <p:cNvSpPr txBox="1"/>
          <p:nvPr/>
        </p:nvSpPr>
        <p:spPr>
          <a:xfrm>
            <a:off x="1119895" y="1395075"/>
            <a:ext cx="77576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Email:</a:t>
            </a:r>
            <a:r>
              <a:rPr lang="en-IN" dirty="0" err="1">
                <a:hlinkClick r:id="rId2"/>
              </a:rPr>
              <a:t>email</a:t>
            </a:r>
            <a:endParaRPr lang="en-IN" dirty="0"/>
          </a:p>
          <a:p>
            <a:r>
              <a:rPr lang="en-IN" dirty="0">
                <a:hlinkClick r:id="rId3"/>
              </a:rPr>
              <a:t>Email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4"/>
              </a:rPr>
              <a:t>email</a:t>
            </a:r>
            <a:endParaRPr lang="en-IN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190F22-A015-8337-29AA-DE850FAE065E}"/>
              </a:ext>
            </a:extLst>
          </p:cNvPr>
          <p:cNvSpPr txBox="1"/>
          <p:nvPr/>
        </p:nvSpPr>
        <p:spPr>
          <a:xfrm>
            <a:off x="1116945" y="857764"/>
            <a:ext cx="3238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Contact Us</a:t>
            </a:r>
            <a:r>
              <a:rPr lang="en-IN" dirty="0"/>
              <a:t>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1680"/>
            <a:ext cx="8229600" cy="5008880"/>
          </a:xfrm>
        </p:spPr>
        <p:txBody>
          <a:bodyPr>
            <a:normAutofit/>
          </a:bodyPr>
          <a:lstStyle/>
          <a:p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352</Words>
  <Application>Microsoft Office PowerPoint</Application>
  <PresentationFormat>On-screen Show (4:3)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Arogya Mithra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Usage &amp; Benefits </vt:lpstr>
      <vt:lpstr>Final Contribution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Geetanjali Malave</cp:lastModifiedBy>
  <cp:revision>3</cp:revision>
  <dcterms:created xsi:type="dcterms:W3CDTF">2013-01-27T09:14:16Z</dcterms:created>
  <dcterms:modified xsi:type="dcterms:W3CDTF">2026-04-14T06:06:02Z</dcterms:modified>
  <cp:category/>
</cp:coreProperties>
</file>